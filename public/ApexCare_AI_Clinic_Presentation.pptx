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92608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⚕️ NEXT-GENERATION HEALTHCARE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Apex Care AI Scheduling Hub</a:t>
            </a:r>
          </a:p>
          <a:p>
            <a:pPr>
              <a:spcBef>
                <a:spcPts val="1200"/>
              </a:spcBef>
              <a:defRPr sz="1800">
                <a:solidFill>
                  <a:srgbClr val="CBD5E1"/>
                </a:solidFill>
              </a:defRPr>
            </a:pPr>
            <a:r>
              <a:t>Autonomous 24/7 WhatsApp Patient Scheduling, Multi-Doctor Calendar Sync &amp; Practice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3328416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0D9488"/>
                </a:solidFill>
              </a:defRPr>
            </a:pPr>
            <a:r>
              <a:t>0 App Downloads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Patients schedule naturally via WhatsApp in under 45 seconds with zero account hurdles.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4114800"/>
            <a:ext cx="3328416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0284C7"/>
                </a:solidFill>
              </a:defRPr>
            </a:pPr>
            <a:r>
              <a:t>100% Slot Concurrency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Atomic 10-minute temporary holds eliminate double-bookings and scheduling collisions.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01584" y="4114800"/>
            <a:ext cx="3328416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7C3AED"/>
                </a:solidFill>
              </a:defRPr>
            </a:pPr>
            <a:r>
              <a:t>&lt; 4% No-Show Rate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Automated 24h WhatsApp confirmation loops convert tentative bookings to guaranteed visits.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Clinical Executive Briefing • Prepared for Medical Directors, Practice Owners &amp; Healthcare Executives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</a:defRPr>
            </a:pPr>
            <a:r>
              <a:t>APEX CARE AI CLINICAL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Administrative Bottleneck in Modern Medical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Traditional front-desk phone scheduling leaks patient volume, burns out staff, and incurs high no-show costs.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84648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600" b="1">
                <a:solidFill>
                  <a:srgbClr val="DC2626"/>
                </a:solidFill>
              </a:defRPr>
            </a:pPr>
            <a:r>
              <a:t>📞 67% Prefer Text Booking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Patients hate waiting on phone queues during clinic hours. 67% abandon appointments if they cannot schedule instantly via messaging on their own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2011680"/>
            <a:ext cx="5184648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600" b="1">
                <a:solidFill>
                  <a:srgbClr val="D97706"/>
                </a:solidFill>
              </a:defRPr>
            </a:pPr>
            <a:r>
              <a:t>📉 18% – 25% No-Show Leakage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Unconfirmed appointments cost the average private practice over $150,000/year per physician in unrecoverable clinical chair downtime.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51960"/>
            <a:ext cx="5184648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600" b="1">
                <a:solidFill>
                  <a:srgbClr val="DC2626"/>
                </a:solidFill>
              </a:defRPr>
            </a:pPr>
            <a:r>
              <a:t>⚠️ Accidental Double-Bookings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Simultaneous phone calls, walk-in arrivals, and multi-staff calendars create scheduling collisions, damaging physician reputation.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4251960"/>
            <a:ext cx="5184648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600" b="1">
                <a:solidFill>
                  <a:srgbClr val="0F766E"/>
                </a:solidFill>
              </a:defRPr>
            </a:pPr>
            <a:r>
              <a:t>💸 Clunky Patient Portals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Requiring patients to install apps or remember passwords leads to 82% portal abandonment. Patients simply want WhatsApp.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</a:defRPr>
            </a:pPr>
            <a:r>
              <a:t>APEX CARE AI CLINICAL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Apex Care AI: Autonomous 24/7 Virtual Care Coordinator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Transforms WhatsApp into a smart clinical booking engine directly synchronized with your clinic's weekly schedules.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28416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500" b="1">
                <a:solidFill>
                  <a:srgbClr val="0F766E"/>
                </a:solidFill>
              </a:defRPr>
            </a:pPr>
            <a:r>
              <a:t>💬 Zero-Friction WhatsApp Booking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Patients text your official clinic WhatsApp number anytime.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Answers FAQs, doctor specialties, consultation pricing, and directions without forced patient registration.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Registration only triggers once the patient confirms booking.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2011680"/>
            <a:ext cx="3328416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500" b="1">
                <a:solidFill>
                  <a:srgbClr val="0284C7"/>
                </a:solidFill>
              </a:defRPr>
            </a:pPr>
            <a:r>
              <a:t>👨‍⚕️ Multi-Doctor Practice Intelligence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Registers multiple physicians with segregated calendars.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Custom shift hours, break times, and slot durations per doctor.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Doctors receive real-time WhatsApp booking alerts on their personal mobile.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2011680"/>
            <a:ext cx="3328416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500" b="1">
                <a:solidFill>
                  <a:srgbClr val="7C3AED"/>
                </a:solidFill>
              </a:defRPr>
            </a:pPr>
            <a:r>
              <a:t>👨‍👩‍👧 Family &amp; Multi-Patient Profiles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Enables booking for Self, Spouse, Child, or Dependent under one phone.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Appointment records and confirmations strictly reflect the actual patient's identity.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View all family upcoming visits with 'MY BOOKINGS'.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</a:defRPr>
            </a:pPr>
            <a:r>
              <a:t>APEX CARE AI CLINICAL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Atomic Concurrency Protection: 100% Zero Double-Bookings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Enterprise-grade slot locking ensures multiple patients cannot book the same doctor's slot simultaneously.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621792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🔒 Real-Time Concurrency Mechanism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▶ 1. Slot Selection &amp; Lock Acquisition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When Patient A picks 10:30 AM with Dr. Wright, an atomic database lock immediately holds that slot for 10 minutes.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▶ 2. Instant Collision Prevention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If Patient B simultaneously requests 10:30 AM via WhatsApp or front desk walk-in, the system flags the slot as temporarily reserved.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▶ 3. Auto-Release or Confirmation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If Patient A confirms, the slot is permanently booked and doctor alerted. If Patient A abandons or cancels, the slot is instantly freed back to the public pool.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▶ 4. No-Show &amp; Cancellation Reclamation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Cancelled appointments instantly restore calendar availability while preserving clinical audit history.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2011680"/>
            <a:ext cx="4325112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t>📊 Clinical Reliability Impact</a:t>
            </a:r>
          </a:p>
          <a:p>
            <a:pPr>
              <a:spcBef>
                <a:spcPts val="1200"/>
              </a:spcBef>
              <a:defRPr sz="1200" b="1">
                <a:solidFill>
                  <a:srgbClr val="16A34A"/>
                </a:solidFill>
              </a:defRPr>
            </a:pPr>
            <a:r>
              <a:t>✅ 0 Scheduling Clashes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Completely eliminates embarrassing waiting room double-bookings and physician calendar frustration.</a:t>
            </a:r>
          </a:p>
          <a:p>
            <a:pPr>
              <a:spcBef>
                <a:spcPts val="1200"/>
              </a:spcBef>
              <a:defRPr sz="1200" b="1">
                <a:solidFill>
                  <a:srgbClr val="16A34A"/>
                </a:solidFill>
              </a:defRPr>
            </a:pPr>
            <a:r>
              <a:t>✅ Real-Time Calendar Sync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Walk-ins recorded by reception immediately update WhatsApp slot availability across all devices.</a:t>
            </a:r>
          </a:p>
          <a:p>
            <a:pPr>
              <a:spcBef>
                <a:spcPts val="1200"/>
              </a:spcBef>
              <a:defRPr sz="1200" b="1">
                <a:solidFill>
                  <a:srgbClr val="16A34A"/>
                </a:solidFill>
              </a:defRPr>
            </a:pPr>
            <a:r>
              <a:t>✅ Audit Trail Compliance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Every lock, confirmation, cancellation, and reschedule logs exact timestamps, phones, and user IDs.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</a:defRPr>
            </a:pPr>
            <a:r>
              <a:t>APEX CARE AI CLINICAL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Automated 24-Hour Confirmation: Slashing No-Shows to &lt; 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Intelligent automated check-in loops verify attendance, allowing clinics to backfill unconfirmed slots proactively.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28416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500" b="1">
                <a:solidFill>
                  <a:srgbClr val="0284C7"/>
                </a:solidFill>
              </a:defRPr>
            </a:pPr>
            <a:r>
              <a:t>Step 1: 24h Prior Autonomous Ping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At 24 hours prior to appointment, Apex Care AI sends a personalized WhatsApp reminder to the patient:</a:t>
            </a:r>
            <a:br/>
            <a:br/>
            <a:r>
              <a:t>'Hello Sarah! Confirming your appointment with Dr. Wright tomorrow at 10:30 AM. Reply CONFIRM to secure or RESCHEDULE.'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2011680"/>
            <a:ext cx="3328416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500" b="1">
                <a:solidFill>
                  <a:srgbClr val="0F766E"/>
                </a:solidFill>
              </a:defRPr>
            </a:pPr>
            <a:r>
              <a:t>Step 2: Patient One-Word Response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• If patient replies 'CONFIRM' or 'YES': Status becomes Confirmed immediately.</a:t>
            </a:r>
            <a:br/>
            <a:br/>
            <a:r>
              <a:t>• If patient replies 'CANCEL' or doesn't confirm: Slot is flagged as Tentative, giving front desk reception time to reallocate to urgent walk-ins.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2011680"/>
            <a:ext cx="3328416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500" b="1">
                <a:solidFill>
                  <a:srgbClr val="7C3AED"/>
                </a:solidFill>
              </a:defRPr>
            </a:pPr>
            <a:r>
              <a:t>Step 3: Revenue Protection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Front-desk staff see an active Tentative vs Confirmed dashboard.</a:t>
            </a:r>
            <a:br/>
            <a:br/>
            <a:r>
              <a:t>Clinics recover an estimated 8–15 empty appointment slots per doctor every single week.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</a:defRPr>
            </a:pPr>
            <a:r>
              <a:t>APEX CARE AI CLINICAL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Strict Timezone Localization &amp; Past-Slot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Engineered for medical practices worldwide with 230+ countries and strict temporal safeguards.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84648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500" b="1">
                <a:solidFill>
                  <a:srgbClr val="0284C7"/>
                </a:solidFill>
              </a:defRPr>
            </a:pPr>
            <a:r>
              <a:t>🌍 230+ World Countries &amp; Territories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Configurable country selector maps ISO codes, international dialing prefixes, and official IANA timezones (Asia/Karachi, America/New_York, Europe/London, Asia/Dubai, etc.).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2011680"/>
            <a:ext cx="5184648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500" b="1">
                <a:solidFill>
                  <a:srgbClr val="0F766E"/>
                </a:solidFill>
              </a:defRPr>
            </a:pPr>
            <a:r>
              <a:t>⏰ Live Clinic Clock Display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The dashboard features a live-ticking clock pegged strictly to the clinic's local timezone—never the browser or server clock. Staff always see accurate local medical hours.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51960"/>
            <a:ext cx="5184648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500" b="1">
                <a:solidFill>
                  <a:srgbClr val="DC2626"/>
                </a:solidFill>
              </a:defRPr>
            </a:pPr>
            <a:r>
              <a:t>🚫 Past-Slot Prohibition for Today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The AI dynamic availability engine actively blocks timeslots that have already elapsed in the clinic's local time today. Patients can never accidentally book past hours.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4251960"/>
            <a:ext cx="5184648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500" b="1">
                <a:solidFill>
                  <a:srgbClr val="7C3AED"/>
                </a:solidFill>
              </a:defRPr>
            </a:pPr>
            <a:r>
              <a:t>🏷️ Clear Timezone Receipts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All WhatsApp confirmations, calendar walk-in cards, doctor notifications, and 24h reminders include the exact timezone abbreviation (e.g. PKT, EDT, GMT+5).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</a:defRPr>
            </a:pPr>
            <a:r>
              <a:t>APEX CARE AI CLINICAL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Segregated Clinical Access &amp; Role-Based Security (RBAC)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Strict HIPAA-ready permission boundaries ensure physicians only see their own appointments and patient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84648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500" b="1">
                <a:solidFill>
                  <a:srgbClr val="DC2626"/>
                </a:solidFill>
              </a:defRPr>
            </a:pPr>
            <a:r>
              <a:t>👑 Administrator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Full clinic setup, Meta WhatsApp Cloud API credentials, pricing catalog, user management, and system-wide permission assignment.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2011680"/>
            <a:ext cx="5184648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500" b="1">
                <a:solidFill>
                  <a:srgbClr val="7C3AED"/>
                </a:solidFill>
              </a:defRPr>
            </a:pPr>
            <a:r>
              <a:t>🏥 Medical Director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Executive clinical oversight across all providers, aggregate appointment analytics, doctor schedules, and practice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51960"/>
            <a:ext cx="5184648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500" b="1">
                <a:solidFill>
                  <a:srgbClr val="0284C7"/>
                </a:solidFill>
              </a:defRPr>
            </a:pPr>
            <a:r>
              <a:t>👨‍⚕️ Attending Physicians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Strictly segregated calendar and patient list: physicians can only see appointments assigned to their own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4251960"/>
            <a:ext cx="5184648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500" b="1">
                <a:solidFill>
                  <a:srgbClr val="0F766E"/>
                </a:solidFill>
              </a:defRPr>
            </a:pPr>
            <a:r>
              <a:t>📋 Front Desk Reception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Manage multi-doctor walk-ins, phone bookings, patient imports, rescheduling, and desk check-ins across all practitioners.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97880"/>
            <a:ext cx="10725912" cy="5486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6A34A"/>
                </a:solidFill>
              </a:defRPr>
            </a:pPr>
            <a:r>
              <a:t>🔐 Security Highlights: Mandatory First-Login Password Change • PBKDF2 256-Bit Hashing • Self-Service WhatsApp/Email Password Reset • Cascading Deactivation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</a:defRPr>
            </a:pPr>
            <a:r>
              <a:t>APEX CARE AI CLINICAL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Turnkey Data Migration: Excel (.xlsx) Import &amp;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Seamlessly ingest existing patient rosters and export billing data without IT friction.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84648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500" b="1">
                <a:solidFill>
                  <a:srgbClr val="0284C7"/>
                </a:solidFill>
              </a:defRPr>
            </a:pPr>
            <a:r>
              <a:t>📥 Download Sample Template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Clinics download a pre-formatted Excel (.xlsx) or CSV template with pre-calibrated columns: Mobile Number, Patient Name, Relationship, and Age/Notes.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2011680"/>
            <a:ext cx="5184648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500" b="1">
                <a:solidFill>
                  <a:srgbClr val="0F766E"/>
                </a:solidFill>
              </a:defRPr>
            </a:pPr>
            <a:r>
              <a:t>⚡ 1-Click Bulk Patient Import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Upload hundreds of patient and family records instantly. The engine deduplicates client accounts and binds multiple family members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51960"/>
            <a:ext cx="5184648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500" b="1">
                <a:solidFill>
                  <a:srgbClr val="7C3AED"/>
                </a:solidFill>
              </a:defRPr>
            </a:pPr>
            <a:r>
              <a:t>📊 Formatted Excel Appointments Export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Download clinical appointment ledgers directly as high-fidelity Excel (.xlsx) spreadsheets formatted with auto-fitted column widths for accounting.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4251960"/>
            <a:ext cx="5184648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500" b="1">
                <a:solidFill>
                  <a:srgbClr val="D97706"/>
                </a:solidFill>
              </a:defRPr>
            </a:pPr>
            <a:r>
              <a:t>🧹 Sample Data Purge Safeguard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Admin can safely purge initial demo dummy records once configuration is complete, ensuring only live clinic data remains active.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</a:defRPr>
            </a:pPr>
            <a:r>
              <a:t>APEX CARE AI CLINICAL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Economic Advantage: Why Clinics Choose Apex Care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Comparison against legacy platforms shows massive cost savings with superior patient accessibility.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72591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834640"/>
                <a:gridCol w="2377440"/>
                <a:gridCol w="2770632"/>
              </a:tblGrid>
              <a:tr h="8229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Pricing Model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Patient Booking Channel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Double-Booking Protection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Zocdoc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$300/yr + $35–$110 PER BOOKING</a:t>
                      </a:r>
                    </a:p>
                    <a:p>
                      <a:r>
                        <a:t>($1,500–$3,500/mo avg)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Third-party app/website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Basic external sync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Doctolib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€139/month per doctor flat fee</a:t>
                      </a:r>
                    </a:p>
                    <a:p>
                      <a:r>
                        <a:t>(+€79/mo telemedicine)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Proprietary portal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Internal schedule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NexHealth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$250–$350/mo per location</a:t>
                      </a:r>
                    </a:p>
                    <a:p>
                      <a:r>
                        <a:t>(+ up to $3,000 setup fee)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Web widget &amp; SMS links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EHR sync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Apex Care AI (Ours)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$5–$15/mo operating overhead</a:t>
                      </a:r>
                    </a:p>
                    <a:p>
                      <a:r>
                        <a:t>(Zero per-appointment fees!)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Pure WhatsApp (Zero app downloads)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10-Min Atomic Slot Lock &amp; 24h Checks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</a:defRPr>
            </a:pPr>
            <a:r>
              <a:t>APEX CARE AI CLINICAL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State-of-the-Art Hybrid Architecture: Nebius &amp; NVIDIA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Combines deterministic medical booking safety with open-source frontier intelligence.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84648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500" b="1">
                <a:solidFill>
                  <a:srgbClr val="7C3AED"/>
                </a:solidFill>
              </a:defRPr>
            </a:pPr>
            <a:r>
              <a:t>Tier 1: Frontier Conversational AI</a:t>
            </a:r>
            <a:br/>
            <a:r>
              <a:t>(Nebius Token Factory / NVIDIA Nemotron)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Powered by NVIDIA open-source models (Llama-3.1-Nemotron-70B, Nemotron-4, Mistral-NeMo).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Deployed on Nebius Token Factory (Serverless OpenAI-compatible API) or Nebius AI Cloud (H100/H200/B200 clusters).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Answers open-ended symptom questions, doctor bios, directions, and clinic preparation guidelines with empathetic intelligence.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2011680"/>
            <a:ext cx="5184648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500" b="1">
                <a:solidFill>
                  <a:srgbClr val="0F766E"/>
                </a:solidFill>
              </a:defRPr>
            </a:pPr>
            <a:r>
              <a:t>Tier 2: Deterministic Medical Booking Core</a:t>
            </a:r>
            <a:br/>
            <a:r>
              <a:t>(Pure Node.js &amp; SQLite Concurrency Engine)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Zero Hallucination Guarantee: Appointment slots and prices are mathematically calculated from live doctor schedules.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Atomic Concurrency Engine: Enforces 10-minute slot holds and immediate double-booking prevention.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Sub-10ms response latency with zero per-token cost for core booking transactions.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Strict timezone localization across 230+ countries.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</a:defRPr>
            </a:pPr>
            <a:r>
              <a:t>APEX CARE AI CLINICAL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Rapid Deployment: Live in Your Practice in 24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Designed for frictionless implementation with zero downtime to your existing clinical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450592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3200" b="1">
                <a:solidFill>
                  <a:srgbClr val="0D9488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t>Step 1: Persona &amp; Clinic Setup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Configure clinic address, phone, consultation fees, country, and timezone in under 15 minutes.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3864" y="2011680"/>
            <a:ext cx="2450592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3200" b="1">
                <a:solidFill>
                  <a:srgbClr val="0D9488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t>Step 2: Doctor Profiles &amp; Schedules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Define your physicians, specialties, working days, break hours, and slot durations.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2011680"/>
            <a:ext cx="2450592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3200" b="1">
                <a:solidFill>
                  <a:srgbClr val="0D9488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t>Step 3: Patient Excel Ingestion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Upload existing patient rosters using our sample Excel template in one click.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88552" y="2011680"/>
            <a:ext cx="2450592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3200" b="1">
                <a:solidFill>
                  <a:srgbClr val="0D9488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t>Step 4: Meta WhatsApp Cloud Hookup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Connect your verified Meta WhatsApp Business number via secure webhook.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Transform Your Medical Practice with Apex Care AI</a:t>
            </a:r>
          </a:p>
          <a:p>
            <a:pPr>
              <a:spcBef>
                <a:spcPts val="1000"/>
              </a:spcBef>
              <a:defRPr sz="1700">
                <a:solidFill>
                  <a:srgbClr val="CBD5E1"/>
                </a:solidFill>
              </a:defRPr>
            </a:pPr>
            <a:r>
              <a:t>Join modern clinics delivering 24/7 autonomous scheduling with zero no-shows and complete calendar peace of mind.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474720"/>
            <a:ext cx="3328416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 b="1">
                <a:solidFill>
                  <a:srgbClr val="0D9488"/>
                </a:solidFill>
              </a:defRPr>
            </a:pPr>
            <a:r>
              <a:t>1. Schedule Live Clinical Demo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Experience the WhatsApp conversational flow firsthand on your mobile device.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6552" y="3474720"/>
            <a:ext cx="3328416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 b="1">
                <a:solidFill>
                  <a:srgbClr val="0284C7"/>
                </a:solidFill>
              </a:defRPr>
            </a:pPr>
            <a:r>
              <a:t>2. Request 14-Day Practice Pilot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Deploy in parallel with your front desk to measure immediate no-show reduction.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01584" y="3474720"/>
            <a:ext cx="3328416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500" b="1">
                <a:solidFill>
                  <a:srgbClr val="7C3AED"/>
                </a:solidFill>
              </a:defRPr>
            </a:pPr>
            <a:r>
              <a:t>3. Onboard Your Medical Team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</a:defRPr>
            </a:pPr>
            <a:r>
              <a:t>Train doctors and receptionists in less than 30 minutes with our role-based portal.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Apex Care Medical Solutions • Meta Verified Cloud Partner • HIPAA &amp; 256-Bit Data Encryption Compliant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